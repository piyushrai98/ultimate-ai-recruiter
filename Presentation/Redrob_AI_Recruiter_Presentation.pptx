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5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2743200"/>
            <a:ext cx="5486400" cy="3657600"/>
          </a:xfrm>
          <a:prstGeom prst="ellipse">
            <a:avLst/>
          </a:prstGeom>
          <a:solidFill>
            <a:srgbClr val="009E7F">
              <a:alpha val="8000"/>
            </a:srgbClr>
          </a:solidFill>
          <a:ln w="12700">
            <a:solidFill>
              <a:srgbClr val="009E7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✦ INDIA.RUNS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Redrob AI Recruiter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Discovery &amp; Ranking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4572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0D4AA"/>
                </a:solidFill>
              </a:rPr>
              <a:t>TEAM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AI Recruiter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971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0D4AA"/>
                </a:solidFill>
              </a:rPr>
              <a:t>TRACK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– Candidate Discovery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0D4AA"/>
                </a:solidFill>
              </a:rPr>
              <a:t>LEADER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Kumar Rai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C0D8"/>
                </a:solidFill>
              </a:rPr>
              <a:t>Build What Next India Runs 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663440"/>
            <a:ext cx="950976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Python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75104" y="466344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46634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LightGBM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4663440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FAISS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78808" y="4663440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8808" y="46634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BM25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74920" y="4663440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6634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Sentence Transformers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70064" y="4663440"/>
            <a:ext cx="1197864" cy="256032"/>
          </a:xfrm>
          <a:prstGeom prst="roundRect">
            <a:avLst>
              <a:gd name="adj" fmla="val 28571"/>
            </a:avLst>
          </a:prstGeom>
          <a:solidFill>
            <a:srgbClr val="1A2050"/>
          </a:solidFill>
          <a:ln w="6350">
            <a:solidFill>
              <a:srgbClr val="8A94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466344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0D8"/>
                </a:solidFill>
              </a:rPr>
              <a:t>Streamlit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B5EA7">
              <a:alpha val="10000"/>
            </a:srgbClr>
          </a:solidFill>
          <a:ln w="12700">
            <a:solidFill>
              <a:srgbClr val="7B5EA7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WHAT WE BUILT &amp; HOW WE'RE DIFFERENT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41B45"/>
          </a:solidFill>
          <a:ln w="12700">
            <a:solidFill>
              <a:srgbClr val="00D4AA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recruitment intelligence platform that identifies the best candidates from a pool of 100,000 profiles using: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Semantic understanding of job requirements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Hybrid retrieval combining lexical + dense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Learning-to-Rank with 104 engineered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Explainable AI with factual evidence grounding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Honeypot detection for data integrity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optimized Top-100 shortlist with ranked scores (0–1) and unique AI-generated explanations for each candidate.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2435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15727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922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FAISS + RRF Fusion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12280" y="118872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12435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12280" y="15727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Ranking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7922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Learning-to-Rank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24942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7980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Career, Skills, Behavioral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219456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224942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7980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255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3584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803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fraud filtering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12280" y="3200400"/>
            <a:ext cx="1965960" cy="841248"/>
          </a:xfrm>
          <a:prstGeom prst="roundRect">
            <a:avLst>
              <a:gd name="adj" fmla="val 10870"/>
            </a:avLst>
          </a:prstGeom>
          <a:solidFill>
            <a:srgbClr val="1C2456"/>
          </a:solidFill>
          <a:ln w="12700">
            <a:solidFill>
              <a:srgbClr val="7B5EA7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3255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3584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Grade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3803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~38s for 100K candidates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Understanding &amp; Candidate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BEYOND KEYWORD MATCHING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📋  JD Parsed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Job Title &amp; Role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75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Experience (years)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Must-Have Skills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Preferred / Nice-to-Have Skills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Company Preference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Location Constraints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Behavioral Expectations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05656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Negative Hiring Signals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41B45"/>
          </a:solidFill>
          <a:ln w="12700">
            <a:solidFill>
              <a:srgbClr val="A88BD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8BD4"/>
                </a:solidFill>
              </a:rPr>
              <a:t>🎯  Candidate Signals Evaluated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755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similarity, ontology coverage, proficiency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2231136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249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Career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evidence mining, tenure stability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2724912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Company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type, quality, industry fit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3218688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236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Behavior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rate, availability, notice period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71246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Integrity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9472" y="38953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check, recruiter signals, duplicates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4206240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2050"/>
          </a:solidFill>
          <a:ln w="635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Education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9472" y="4389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relevance, institutional quality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7B5EA7">
              <a:alpha val="10000"/>
            </a:srgbClr>
          </a:solidFill>
          <a:ln w="12700">
            <a:solidFill>
              <a:srgbClr val="7B5EA7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HOW WE RETRIEVE, SCORE &amp; RANK 100K CANDIDATES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80160"/>
            <a:ext cx="384048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Parse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Skill Extraction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847088"/>
            <a:ext cx="128016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1887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9192" y="1280160"/>
            <a:ext cx="384048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919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919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→ Top 3,000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1847088"/>
            <a:ext cx="128016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1280160"/>
            <a:ext cx="384048" cy="347472"/>
          </a:xfrm>
          <a:prstGeom prst="ellipse">
            <a:avLst/>
          </a:prstGeom>
          <a:solidFill>
            <a:srgbClr val="A88BD4"/>
          </a:solidFill>
          <a:ln w="12700">
            <a:solidFill>
              <a:srgbClr val="A88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Dense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→ Top 2,000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48272" y="1847088"/>
            <a:ext cx="128016" cy="0"/>
          </a:xfrm>
          <a:prstGeom prst="line">
            <a:avLst/>
          </a:prstGeom>
          <a:noFill/>
          <a:ln w="19050">
            <a:solidFill>
              <a:srgbClr val="A88B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1887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76872" y="1280160"/>
            <a:ext cx="384048" cy="347472"/>
          </a:xfrm>
          <a:prstGeom prst="ellipse">
            <a:avLst/>
          </a:prstGeom>
          <a:solidFill>
            <a:srgbClr val="A88BD4"/>
          </a:solidFill>
          <a:ln w="12700">
            <a:solidFill>
              <a:srgbClr val="A88B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76872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7687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→ 2,000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2926080"/>
            <a:ext cx="384048" cy="347472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926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Features Built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50592" y="3493008"/>
            <a:ext cx="128016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79192" y="2926080"/>
            <a:ext cx="384048" cy="347472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2926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7919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7919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LTR Ranking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99432" y="3493008"/>
            <a:ext cx="128016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6BCB77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28032" y="2926080"/>
            <a:ext cx="384048" cy="347472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926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2803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48272" y="3493008"/>
            <a:ext cx="128016" cy="0"/>
          </a:xfrm>
          <a:prstGeom prst="line">
            <a:avLst/>
          </a:prstGeom>
          <a:noFill/>
          <a:ln w="19050">
            <a:solidFill>
              <a:srgbClr val="6BCB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28346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2456"/>
          </a:solidFill>
          <a:ln w="19050">
            <a:solidFill>
              <a:srgbClr val="6BCB77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76872" y="2926080"/>
            <a:ext cx="384048" cy="347472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76872" y="2926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7687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Export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7687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B2"/>
                </a:solidFill>
              </a:rPr>
              <a:t>Multi-query generation applied at JD stage to maximize recall across synonym-rich skill domains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Data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TRUSTWORTHY, FACT-GROUNDED, ROBUST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💡  AI Reasoning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recommendation includes factual evidence from their profile: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Matched &amp; proficient skills listed explicitly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Years of relevant experience cited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Company background &amp; quality assessed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Career progression trajectory mapped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Recruiter response rate analyzed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Notice period impact scored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Education relevance factored 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3749040" cy="146304"/>
          </a:xfrm>
          <a:prstGeom prst="roundRect">
            <a:avLst>
              <a:gd name="adj" fmla="val 25000"/>
            </a:avLst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3542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A"/>
                </a:solidFill>
              </a:rPr>
              <a:t>Unique explanation generated per candidate — no templates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170432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141B45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🛡️  Data Validation Layer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755648"/>
            <a:ext cx="3474720" cy="694944"/>
          </a:xfrm>
          <a:prstGeom prst="roundRect">
            <a:avLst>
              <a:gd name="adj" fmla="val 9211"/>
            </a:avLst>
          </a:prstGeom>
          <a:solidFill>
            <a:srgbClr val="1A2050"/>
          </a:solidFill>
          <a:ln w="63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7922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38928" y="20116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generated only from verified profile data — no inference beyond facts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551176"/>
            <a:ext cx="3474720" cy="694944"/>
          </a:xfrm>
          <a:prstGeom prst="roundRect">
            <a:avLst>
              <a:gd name="adj" fmla="val 9211"/>
            </a:avLst>
          </a:prstGeom>
          <a:solidFill>
            <a:srgbClr val="1A2050"/>
          </a:solidFill>
          <a:ln w="63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587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38928" y="28072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timeline validation, skill inflation check, consistency scoring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346704"/>
            <a:ext cx="3474720" cy="694944"/>
          </a:xfrm>
          <a:prstGeom prst="roundRect">
            <a:avLst>
              <a:gd name="adj" fmla="val 9211"/>
            </a:avLst>
          </a:prstGeom>
          <a:solidFill>
            <a:srgbClr val="1A2050"/>
          </a:solidFill>
          <a:ln w="63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3383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Filtering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38928" y="36027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profiles removed; consulting-only careers penalized; duplicates purged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4142232"/>
            <a:ext cx="3474720" cy="694944"/>
          </a:xfrm>
          <a:prstGeom prst="roundRect">
            <a:avLst>
              <a:gd name="adj" fmla="val 9211"/>
            </a:avLst>
          </a:prstGeom>
          <a:solidFill>
            <a:srgbClr val="1A2050"/>
          </a:solidFill>
          <a:ln w="63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4178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Validation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38928" y="43982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ordering verified; candidate IDs validated; official validator passed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FROM JD INPUT TO RANKED TOP-100 OUTPUT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0116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00D4AA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job_description.docx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6245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8132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00D4AA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8132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8132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Extraction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4261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6148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A88BD4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6148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6148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FAISS + RRF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2277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4164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A88BD4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4164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4164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4164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Features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0293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32180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FFD93D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2180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2180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LTR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8309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0196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FFD93D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0196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0196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0196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Reasoning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763256" y="1965960"/>
            <a:ext cx="91440" cy="0"/>
          </a:xfrm>
          <a:prstGeom prst="line">
            <a:avLst/>
          </a:prstGeom>
          <a:noFill/>
          <a:ln w="19050">
            <a:solidFill>
              <a:srgbClr val="8A94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187452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B2"/>
                </a:solidFill>
              </a:rPr>
              <a:t>▶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882128" y="1325880"/>
            <a:ext cx="1143000" cy="1325880"/>
          </a:xfrm>
          <a:prstGeom prst="roundRect">
            <a:avLst>
              <a:gd name="adj" fmla="val 8000"/>
            </a:avLst>
          </a:prstGeom>
          <a:solidFill>
            <a:srgbClr val="1C2456"/>
          </a:solidFill>
          <a:ln w="19050">
            <a:solidFill>
              <a:srgbClr val="6BCB77">
                <a:alpha val="8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82128" y="13990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88212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82128" y="2295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2907792"/>
            <a:ext cx="8741664" cy="475488"/>
          </a:xfrm>
          <a:prstGeom prst="roundRect">
            <a:avLst>
              <a:gd name="adj" fmla="val 15385"/>
            </a:avLst>
          </a:prstGeom>
          <a:solidFill>
            <a:srgbClr val="1A2050"/>
          </a:solidFill>
          <a:ln w="6350">
            <a:solidFill>
              <a:srgbClr val="8A94B2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candidates.jsonl  ·  100,000 profiles  ·  Schema validated  ·  23 behavioral signals  ·  Career history, skills, education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04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2004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78308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78308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~38s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78308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4612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24612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324612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0916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0916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100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470916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17220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17220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Output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35240" y="356616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41B45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635240" y="3703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~4GB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63524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Usage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00D4AA">
              <a:alpha val="9000"/>
            </a:srgbClr>
          </a:solidFill>
          <a:ln w="12700">
            <a:solidFill>
              <a:srgbClr val="00D4AA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FOUR-LAYER INTELLIGENT PIPELINE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41B45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34440"/>
            <a:ext cx="1874520" cy="365760"/>
          </a:xfrm>
          <a:prstGeom prst="roundRect">
            <a:avLst>
              <a:gd name="adj" fmla="val 17500"/>
            </a:avLst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RETRIEVAL LAYER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2128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(MiniLM-L6-v2)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67004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68833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14553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1638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62102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639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(RRF)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425196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00D4AA">
              <a:alpha val="70000"/>
            </a:srgbClr>
          </a:solidFill>
          <a:ln w="12700">
            <a:solidFill>
              <a:srgbClr val="00D4AA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Top 2,000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68296" y="27432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2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117043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41B45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42032" y="1234440"/>
            <a:ext cx="1874520" cy="365760"/>
          </a:xfrm>
          <a:prstGeom prst="roundRect">
            <a:avLst>
              <a:gd name="adj" fmla="val 17500"/>
            </a:avLst>
          </a:prstGeom>
          <a:solidFill>
            <a:srgbClr val="A88BD4">
              <a:alpha val="80000"/>
            </a:srgbClr>
          </a:solidFill>
          <a:ln w="12700">
            <a:solidFill>
              <a:srgbClr val="A88BD4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INTELLIGENCE LAYER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171907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1737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Ontology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21945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22128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Intelligence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267004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268833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Evidence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0" y="314553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1638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0" y="362102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78608" y="3639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0" y="425196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A88BD4">
              <a:alpha val="70000"/>
            </a:srgbClr>
          </a:solidFill>
          <a:ln w="12700">
            <a:solidFill>
              <a:srgbClr val="A88BD4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Feature Vectors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17136" y="27432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2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117043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41B45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90872" y="1234440"/>
            <a:ext cx="1874520" cy="365760"/>
          </a:xfrm>
          <a:prstGeom prst="roundRect">
            <a:avLst>
              <a:gd name="adj" fmla="val 17500"/>
            </a:avLst>
          </a:prstGeom>
          <a:solidFill>
            <a:srgbClr val="FFD93D">
              <a:alpha val="8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RANKING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171907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1737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21945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22128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Learning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Rank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267004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268833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Optimization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314553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27448" y="31638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(0-1)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362102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27448" y="3639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425196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FFD93D">
              <a:alpha val="70000"/>
            </a:srgbClr>
          </a:solidFill>
          <a:ln w="127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Ranked Scores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65976" y="27432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2"/>
                </a:solidFill>
              </a:rPr>
              <a:t>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66560" y="1170432"/>
            <a:ext cx="2011680" cy="3520440"/>
          </a:xfrm>
          <a:prstGeom prst="roundRect">
            <a:avLst>
              <a:gd name="adj" fmla="val 5455"/>
            </a:avLst>
          </a:prstGeom>
          <a:solidFill>
            <a:srgbClr val="141B45"/>
          </a:solidFill>
          <a:ln w="19050">
            <a:solidFill>
              <a:srgbClr val="6BCB77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39712" y="1234440"/>
            <a:ext cx="1874520" cy="365760"/>
          </a:xfrm>
          <a:prstGeom prst="roundRect">
            <a:avLst>
              <a:gd name="adj" fmla="val 17500"/>
            </a:avLst>
          </a:prstGeom>
          <a:solidFill>
            <a:srgbClr val="6BCB77">
              <a:alpha val="80000"/>
            </a:srgbClr>
          </a:solidFill>
          <a:ln w="12700">
            <a:solidFill>
              <a:srgbClr val="6BCB77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9712" y="1234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EXPLAINABILITY LAYER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0" y="171907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6288" y="1737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58000" y="219456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76288" y="22128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Strengths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Concerns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58000" y="267004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76288" y="268833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Alignment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0" y="314553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76288" y="31638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Per-candidate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58000" y="362102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1A2050"/>
          </a:solidFill>
          <a:ln w="6350">
            <a:solidFill>
              <a:srgbClr val="6BCB77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76288" y="3639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858000" y="425196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6BCB77">
              <a:alpha val="70000"/>
            </a:srgbClr>
          </a:solidFill>
          <a:ln w="12700">
            <a:solidFill>
              <a:srgbClr val="6BCB77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4251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→ Top 100 CSV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FFD93D">
              <a:alpha val="7000"/>
            </a:srgbClr>
          </a:solidFill>
          <a:ln w="12700">
            <a:solidFill>
              <a:srgbClr val="FFD93D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QUALITY, SPEED &amp; COMPUTE EFFICIENCY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C2456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9844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39112" y="1170432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C2456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29844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8B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39112" y="1874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58184" y="1170432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C2456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129844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58184" y="1874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77256" y="1170432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C2456"/>
          </a:solidFill>
          <a:ln w="19050">
            <a:solidFill>
              <a:srgbClr val="6BCB77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129844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C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GB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77256" y="1874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Usage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96328" y="1170432"/>
            <a:ext cx="1572768" cy="1280160"/>
          </a:xfrm>
          <a:prstGeom prst="roundRect">
            <a:avLst>
              <a:gd name="adj" fmla="val 8571"/>
            </a:avLst>
          </a:prstGeom>
          <a:solidFill>
            <a:srgbClr val="1C2456"/>
          </a:solidFill>
          <a:ln w="19050">
            <a:solidFill>
              <a:srgbClr val="FF6B6B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29844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96328" y="1874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Top-100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5303520" cy="2084832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00D4A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7249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📊  Ranking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145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LightGBM LambdaMART optimized for NDCG — industry gold standard for 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447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Pairwise training on relevance pairs with weak supervision labeling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Multi-signal fusion: skills, career, behavioral, company + interactions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0507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Score calibration ensures monotonic ordering across all 100 candidates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3525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Official submission validator: PASSED — all checks green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2633472"/>
            <a:ext cx="2926080" cy="2084832"/>
          </a:xfrm>
          <a:prstGeom prst="roundRect">
            <a:avLst>
              <a:gd name="adj" fmla="val 5263"/>
            </a:avLst>
          </a:prstGeom>
          <a:solidFill>
            <a:srgbClr val="141B45"/>
          </a:solidFill>
          <a:ln w="12700">
            <a:solidFill>
              <a:srgbClr val="FFD93D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61888" y="27249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</a:rPr>
              <a:t>⚡  Compute Constraints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61888" y="3145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314553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seconds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61888" y="3447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76288" y="34472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GB peak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61888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76288" y="3749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61888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76288" y="40507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profiles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61888" y="4352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76288" y="435254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ranked CSV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B5EA7">
              <a:alpha val="10000"/>
            </a:srgbClr>
          </a:solidFill>
          <a:ln w="12700">
            <a:solidFill>
              <a:srgbClr val="7B5EA7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CAREFULLY SELECTED FOR PERFORMANCE, SPEED &amp; EXPLAINABILITY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618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🤖  AI / 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7373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647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 for fast dense embeddings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" y="233172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ranking — NDCG optimized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92608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53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(CPU)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 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352044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47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/ RankBM25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retrieval baseline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411480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42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name fuzzy matching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170432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01568" y="12618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8BD4"/>
                </a:solidFill>
              </a:rPr>
              <a:t>🔧  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01568" y="17373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7647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pipeline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01568" y="233172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feature engineering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01568" y="292608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953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0" y="3154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&amp; model caching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1568" y="352044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547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74720" y="3749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for candidates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01568" y="411480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A88BD4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142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74720" y="4343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pipeline configuration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1170432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27648" y="12618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</a:rPr>
              <a:t>📊  Frontend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27648" y="17373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7647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0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recruiter dashboard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27648" y="233172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359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visualizations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27648" y="292608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953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Ready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0" y="3154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27648" y="352044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547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0" y="3749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submission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7648" y="411480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A2050"/>
          </a:solidFill>
          <a:ln w="635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4142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0" y="4343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DataFrames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4864608"/>
            <a:ext cx="8412480" cy="182880"/>
          </a:xfrm>
          <a:prstGeom prst="roundRect">
            <a:avLst>
              <a:gd name="adj" fmla="val 25000"/>
            </a:avLst>
          </a:prstGeom>
          <a:solidFill>
            <a:srgbClr val="1A2050"/>
          </a:solidFill>
          <a:ln w="6350">
            <a:solidFill>
              <a:srgbClr val="8A94B2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4B2"/>
                </a:solidFill>
              </a:rPr>
              <a:t>All libraries are CPU-compatible, open-source, and production-tested — no proprietary dependencies or API keys required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B5EA7">
              <a:alpha val="10000"/>
            </a:srgbClr>
          </a:solidFill>
          <a:ln w="12700">
            <a:solidFill>
              <a:srgbClr val="7B5EA7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Assets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AA"/>
                </a:solidFill>
              </a:rPr>
              <a:t>EVERYTHING DELIVERED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with modular pipeline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17043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0604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recruiter UI: Rankings, Explorer, Pipeline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system architecture visualization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17043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6BCB77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0372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README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03720" y="2130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guide, pipeline docs, feature documentation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FF6B6B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136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🎥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of the solution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14600" y="304495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00D4AA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14600" y="3136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0604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0604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Top-100 ranked candidate output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04495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A88BD4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136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548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memory, and ranking quality metrics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12280" y="3044952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141B45"/>
          </a:solidFill>
          <a:ln w="19050">
            <a:solidFill>
              <a:srgbClr val="FFD93D">
                <a:alpha val="8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12280" y="3136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0372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0372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to ranked output pipeline visualization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6400800" cy="640080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5720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✦ REDROB × H2S  ·  INDIA.RUNS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</a:rPr>
              <a:t>Build What Next India Runs 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 · 104 features · ~38s runtime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LambdaMART + Explainable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78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honeypots · 100 unique explanations · Validator passed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4B2"/>
                </a:solidFill>
              </a:rPr>
              <a:t>Team: Redrob AI Recruiter  ·  Leader: Piyush Kumar Rai  ·  Track 1 – Intelligent Candidate Discovery &amp; Ranking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PresentationFormat>On-screen Show (16:9)</PresentationFormat>
  <Paragraphs>325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AI Recruiter – INDIA.RUNS</dc:title>
  <dc:subject>PptxGenJS Presentation</dc:subject>
  <dc:creator>PptxGenJS</dc:creator>
  <cp:lastModifiedBy>Shreya Srivastava</cp:lastModifiedBy>
  <cp:revision>1</cp:revision>
  <dcterms:created xsi:type="dcterms:W3CDTF">2026-06-27T16:40:28Z</dcterms:created>
  <dcterms:modified xsi:type="dcterms:W3CDTF">2026-06-27T16:42:22Z</dcterms:modified>
</cp:coreProperties>
</file>